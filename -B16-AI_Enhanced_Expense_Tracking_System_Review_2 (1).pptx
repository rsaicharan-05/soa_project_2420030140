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AN RATHANALA" userId="7c9aa6e1067b4cf6" providerId="LiveId" clId="{59BCDDB0-13A4-4CE9-942F-7B2A14E577DC}"/>
    <pc:docChg chg="undo custSel delSld modSld">
      <pc:chgData name="CHARAN RATHANALA" userId="7c9aa6e1067b4cf6" providerId="LiveId" clId="{59BCDDB0-13A4-4CE9-942F-7B2A14E577DC}" dt="2026-09-22T08:28:34.984" v="12" actId="1076"/>
      <pc:docMkLst>
        <pc:docMk/>
      </pc:docMkLst>
      <pc:sldChg chg="del">
        <pc:chgData name="CHARAN RATHANALA" userId="7c9aa6e1067b4cf6" providerId="LiveId" clId="{59BCDDB0-13A4-4CE9-942F-7B2A14E577DC}" dt="2026-09-22T08:25:42.429" v="4" actId="47"/>
        <pc:sldMkLst>
          <pc:docMk/>
          <pc:sldMk cId="0" sldId="263"/>
        </pc:sldMkLst>
      </pc:sldChg>
      <pc:sldChg chg="addSp delSp modSp mod">
        <pc:chgData name="CHARAN RATHANALA" userId="7c9aa6e1067b4cf6" providerId="LiveId" clId="{59BCDDB0-13A4-4CE9-942F-7B2A14E577DC}" dt="2026-09-22T08:28:34.984" v="12" actId="1076"/>
        <pc:sldMkLst>
          <pc:docMk/>
          <pc:sldMk cId="2701902850" sldId="265"/>
        </pc:sldMkLst>
        <pc:spChg chg="add mod">
          <ac:chgData name="CHARAN RATHANALA" userId="7c9aa6e1067b4cf6" providerId="LiveId" clId="{59BCDDB0-13A4-4CE9-942F-7B2A14E577DC}" dt="2026-09-22T08:25:39.145" v="3" actId="1076"/>
          <ac:spMkLst>
            <pc:docMk/>
            <pc:sldMk cId="2701902850" sldId="265"/>
            <ac:spMk id="4" creationId="{1EFCA625-EFE0-ED74-F81E-DC7C2F9429A8}"/>
          </ac:spMkLst>
        </pc:spChg>
        <pc:picChg chg="del">
          <ac:chgData name="CHARAN RATHANALA" userId="7c9aa6e1067b4cf6" providerId="LiveId" clId="{59BCDDB0-13A4-4CE9-942F-7B2A14E577DC}" dt="2026-09-22T08:28:23.449" v="7" actId="478"/>
          <ac:picMkLst>
            <pc:docMk/>
            <pc:sldMk cId="2701902850" sldId="265"/>
            <ac:picMk id="2" creationId="{958E54D9-C760-89F8-DEE9-F7E95943ABF7}"/>
          </ac:picMkLst>
        </pc:picChg>
        <pc:picChg chg="add del">
          <ac:chgData name="CHARAN RATHANALA" userId="7c9aa6e1067b4cf6" providerId="LiveId" clId="{59BCDDB0-13A4-4CE9-942F-7B2A14E577DC}" dt="2026-09-22T08:28:21.402" v="6" actId="22"/>
          <ac:picMkLst>
            <pc:docMk/>
            <pc:sldMk cId="2701902850" sldId="265"/>
            <ac:picMk id="6" creationId="{F955D182-3E2C-4574-5F51-E545A8A37046}"/>
          </ac:picMkLst>
        </pc:picChg>
        <pc:picChg chg="add mod">
          <ac:chgData name="CHARAN RATHANALA" userId="7c9aa6e1067b4cf6" providerId="LiveId" clId="{59BCDDB0-13A4-4CE9-942F-7B2A14E577DC}" dt="2026-09-22T08:28:34.984" v="12" actId="1076"/>
          <ac:picMkLst>
            <pc:docMk/>
            <pc:sldMk cId="2701902850" sldId="265"/>
            <ac:picMk id="8" creationId="{9E582963-9068-171D-5235-1B90B8B6387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184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5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03504"/>
            <a:ext cx="237744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PROJECT REVIEW –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Expense Tracking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Boot microservices platform that helps users record, categorize and understand their expenses — with AI-assisted suggestions and insights.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11064240" cy="0"/>
          </a:xfrm>
          <a:prstGeom prst="line">
            <a:avLst/>
          </a:prstGeom>
          <a:noFill/>
          <a:ln w="12700">
            <a:solidFill>
              <a:srgbClr val="3339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4800600"/>
            <a:ext cx="6492240" cy="1600200"/>
          </a:xfrm>
          <a:prstGeom prst="roundRect">
            <a:avLst>
              <a:gd name="adj" fmla="val 4571"/>
            </a:avLst>
          </a:prstGeom>
          <a:solidFill>
            <a:srgbClr val="141A47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5230368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2420030634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Srivathsava Reddy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2420030140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 Sai Charan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2420030522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Y. Gowtham Reddy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2420030532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G. Devaki Nandan Varma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2420030559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M. Arjun Reddy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69480" y="4800600"/>
            <a:ext cx="4343400" cy="1600200"/>
          </a:xfrm>
          <a:prstGeom prst="roundRect">
            <a:avLst>
              <a:gd name="adj" fmla="val 4571"/>
            </a:avLst>
          </a:prstGeom>
          <a:solidFill>
            <a:srgbClr val="141A47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0" y="4937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0" y="5193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Neelima Gogineni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5486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Dept. of CSE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CSE, Bowrampet Campus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98080" y="6035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 of Project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sections covering the case for the project through to delivery plan</a:t>
            </a:r>
            <a:endParaRPr lang="en-US" sz="1250" dirty="0"/>
          </a:p>
        </p:txBody>
      </p:sp>
      <p:pic>
        <p:nvPicPr>
          <p:cNvPr id="4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1691640" cy="4023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8013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./icons/FaInfo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86" y="1877446"/>
            <a:ext cx="433060" cy="4330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15453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508760" y="1691640"/>
            <a:ext cx="4251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770632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9808" y="297180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2" descr="./icons/FaExclamationTrian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86" y="3047878"/>
            <a:ext cx="433060" cy="4330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" y="2715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508760" y="2862072"/>
            <a:ext cx="4251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941064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49808" y="41422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./icons/FaBulls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886" y="4218310"/>
            <a:ext cx="433060" cy="4330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508760" y="4032504"/>
            <a:ext cx="4251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111496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5312664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4" descr="./icons/Fa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86" y="5388742"/>
            <a:ext cx="433060" cy="4330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9808" y="50566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508760" y="5202936"/>
            <a:ext cx="4251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263640" y="1600200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64808" y="18013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./icons/Fa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0886" y="1877446"/>
            <a:ext cx="433060" cy="4330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64808" y="15453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7223760" y="1691640"/>
            <a:ext cx="4251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Gap Identification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6263640" y="2770632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464808" y="2971800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2" name="Image 6" descr="./icons/FaLightbul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0886" y="3047878"/>
            <a:ext cx="433060" cy="4330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64808" y="27157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7223760" y="2862072"/>
            <a:ext cx="4251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Innovation, Creativity &amp; Novelty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6263640" y="3941064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464808" y="41422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7" descr="./icons/FaSitem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0886" y="4218310"/>
            <a:ext cx="433060" cy="43306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464808" y="3886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7223760" y="4032504"/>
            <a:ext cx="4251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/ Overview</a:t>
            </a:r>
            <a:endParaRPr lang="en-US" sz="1400" dirty="0"/>
          </a:p>
        </p:txBody>
      </p:sp>
      <p:sp>
        <p:nvSpPr>
          <p:cNvPr id="40" name="Shape 30"/>
          <p:cNvSpPr/>
          <p:nvPr/>
        </p:nvSpPr>
        <p:spPr>
          <a:xfrm>
            <a:off x="6263640" y="5111496"/>
            <a:ext cx="539496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6464808" y="5312664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2" name="Image 8" descr="./icons/FaClipboardLis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0886" y="5388742"/>
            <a:ext cx="433060" cy="43306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464808" y="50566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7223760" y="5202936"/>
            <a:ext cx="4251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Project Plan</a:t>
            </a:r>
            <a:endParaRPr lang="en-US" sz="1400" dirty="0"/>
          </a:p>
        </p:txBody>
      </p:sp>
      <p:sp>
        <p:nvSpPr>
          <p:cNvPr id="45" name="Text 3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1691640" cy="4023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43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143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expense tracking is slow, error-prone, and gives people little insight into where their money actually goes.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2628900" cy="27889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9733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./icons/Fa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428" y="2655418"/>
            <a:ext cx="541325" cy="5413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4290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to manage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77240" y="4023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daily expenses manually takes real time and effort from users.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60420" y="2286000"/>
            <a:ext cx="2628900" cy="27889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0911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./icons/FaF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4208" y="2655418"/>
            <a:ext cx="541325" cy="5413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43300" y="34290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get lost or forgotten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89020" y="4023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often forget to log expenses or lose track of where records are kept.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72200" y="2286000"/>
            <a:ext cx="2628900" cy="27889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20890" y="2560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./icons/Fa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988" y="2655418"/>
            <a:ext cx="541325" cy="5413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5080" y="34290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automation today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400800" y="4023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mostly store and display expenses, with limited automation or personalization.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983980" y="2286000"/>
            <a:ext cx="2628900" cy="27889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22" name="Shape 16"/>
          <p:cNvSpPr/>
          <p:nvPr/>
        </p:nvSpPr>
        <p:spPr>
          <a:xfrm>
            <a:off x="9932670" y="256032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4" descr="./icons/Fa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7768" y="2655418"/>
            <a:ext cx="541325" cy="5413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66860" y="34290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fix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212580" y="4023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system to record, view, and budget expenses — with AI to suggest categories and surface basic insights.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is designed to deliver for the end user</a:t>
            </a:r>
            <a:endParaRPr lang="en-US" sz="1250" dirty="0"/>
          </a:p>
        </p:txBody>
      </p:sp>
      <p:pic>
        <p:nvPicPr>
          <p:cNvPr id="4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1691640" cy="4023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./icons/FaPlus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41" y="1856781"/>
            <a:ext cx="419527" cy="4195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update &amp; delete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77240" y="28529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to record, update, and delete daily expenses.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206240" y="1554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3484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./icons/FaTa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541" y="1856781"/>
            <a:ext cx="419527" cy="4195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3484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categorization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434840" y="28529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expenses into clear, simple categories.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863840" y="1554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09244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./icons/Fa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6141" y="1856781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9244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visibility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092440" y="28529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monthly and category-wise spending at a glance.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./icons/FaWal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41" y="4279941"/>
            <a:ext cx="419527" cy="4195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monitoring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77240" y="527608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and monitor a monthly budget in real time.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206240" y="3977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3484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./icons/Fa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8541" y="4279941"/>
            <a:ext cx="419527" cy="41952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434840" y="4892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insights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4434840" y="527608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suggest expense categories and surface simple spending insights.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7863840" y="3977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31" name="Text 23"/>
          <p:cNvSpPr/>
          <p:nvPr/>
        </p:nvSpPr>
        <p:spPr>
          <a:xfrm>
            <a:off x="8092440" y="4114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32" name="Text 24"/>
          <p:cNvSpPr/>
          <p:nvPr/>
        </p:nvSpPr>
        <p:spPr>
          <a:xfrm>
            <a:off x="8092440" y="50292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objectives guiding scope, design, and the Review-1 demo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8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1691640" cy="4023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25880"/>
            <a:ext cx="14173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325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1965960" y="1325880"/>
            <a:ext cx="23317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2057400" y="1325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Area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24231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0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720840" y="1325880"/>
            <a:ext cx="23317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6812280" y="1325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052560" y="1325880"/>
            <a:ext cx="25603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/ Future Work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1783080"/>
            <a:ext cx="14173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1837944"/>
            <a:ext cx="1234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Patel et al.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965960" y="1783080"/>
            <a:ext cx="23317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57400" y="1837944"/>
            <a:ext cx="2148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Expense Management System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297680" y="1783080"/>
            <a:ext cx="24231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9120" y="1837944"/>
            <a:ext cx="2240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recording &amp; category-based analysis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720840" y="1783080"/>
            <a:ext cx="23317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12280" y="1837944"/>
            <a:ext cx="2148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users track and understand spending.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052560" y="1783080"/>
            <a:ext cx="25603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0" y="1837944"/>
            <a:ext cx="2377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automation and intelligent suggestions.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2834640"/>
            <a:ext cx="1417320" cy="1051560"/>
          </a:xfrm>
          <a:prstGeom prst="rect">
            <a:avLst/>
          </a:prstGeom>
          <a:solidFill>
            <a:srgbClr val="EEF1F8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2889504"/>
            <a:ext cx="1234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Kumar et al.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965960" y="2834640"/>
            <a:ext cx="2331720" cy="1051560"/>
          </a:xfrm>
          <a:prstGeom prst="rect">
            <a:avLst/>
          </a:prstGeom>
          <a:solidFill>
            <a:srgbClr val="EEF1F8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57400" y="2889504"/>
            <a:ext cx="2148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Expense Categorization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297680" y="2834640"/>
            <a:ext cx="2423160" cy="1051560"/>
          </a:xfrm>
          <a:prstGeom prst="rect">
            <a:avLst/>
          </a:prstGeom>
          <a:solidFill>
            <a:srgbClr val="EEF1F8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89120" y="2889504"/>
            <a:ext cx="2240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text-based categories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720840" y="2834640"/>
            <a:ext cx="2331720" cy="1051560"/>
          </a:xfrm>
          <a:prstGeom prst="rect">
            <a:avLst/>
          </a:prstGeom>
          <a:solidFill>
            <a:srgbClr val="EEF1F8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12280" y="2889504"/>
            <a:ext cx="2148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reduce manual expense categorization.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052560" y="2834640"/>
            <a:ext cx="2560320" cy="1051560"/>
          </a:xfrm>
          <a:prstGeom prst="rect">
            <a:avLst/>
          </a:prstGeom>
          <a:solidFill>
            <a:srgbClr val="EEF1F8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0" y="2889504"/>
            <a:ext cx="2377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training data for better accuracy.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3886200"/>
            <a:ext cx="1417320" cy="1051560"/>
          </a:xfrm>
          <a:prstGeom prst="rect">
            <a:avLst/>
          </a:prstGeom>
          <a:solidFill>
            <a:srgbClr val="FFF4E0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3941064"/>
            <a:ext cx="1234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965960" y="3886200"/>
            <a:ext cx="2331720" cy="1051560"/>
          </a:xfrm>
          <a:prstGeom prst="rect">
            <a:avLst/>
          </a:prstGeom>
          <a:solidFill>
            <a:srgbClr val="FFF4E0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057400" y="3941064"/>
            <a:ext cx="2148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297680" y="3886200"/>
            <a:ext cx="2423160" cy="1051560"/>
          </a:xfrm>
          <a:prstGeom prst="rect">
            <a:avLst/>
          </a:prstGeom>
          <a:solidFill>
            <a:srgbClr val="FFF4E0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89120" y="3941064"/>
            <a:ext cx="22402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+ AI categorization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720840" y="3886200"/>
            <a:ext cx="2331720" cy="1051560"/>
          </a:xfrm>
          <a:prstGeom prst="rect">
            <a:avLst/>
          </a:prstGeom>
          <a:solidFill>
            <a:srgbClr val="FFF4E0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12280" y="3941064"/>
            <a:ext cx="2148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tracking with basic AI insights.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9052560" y="3886200"/>
            <a:ext cx="2560320" cy="1051560"/>
          </a:xfrm>
          <a:prstGeom prst="rect">
            <a:avLst/>
          </a:prstGeom>
          <a:solidFill>
            <a:srgbClr val="FFF4E0"/>
          </a:solidFill>
          <a:ln w="9525">
            <a:solidFill>
              <a:srgbClr val="E4E8F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44000" y="3941064"/>
            <a:ext cx="2377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extended with better prediction and recommendations.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Gap Identification</a:t>
            </a:r>
            <a:endParaRPr lang="en-US" sz="26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11480"/>
            <a:ext cx="1691640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60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537960" y="960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2801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categorization is slow and error-prone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053328" y="1389888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5971032" y="126187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280160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128016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automatic categorization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8640" y="1810512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181051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tracking only stores and displays expenses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053328" y="192024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5971032" y="179222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55080" y="1810512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181051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spending analysis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548640" y="2340864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234086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suggestions for the user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053328" y="245059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8"/>
          <p:cNvSpPr/>
          <p:nvPr/>
        </p:nvSpPr>
        <p:spPr>
          <a:xfrm>
            <a:off x="5971032" y="232257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55080" y="2340864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234086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suggestions based on history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548640" y="2871216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287121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requires significant user effort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053328" y="298094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4"/>
          <p:cNvSpPr/>
          <p:nvPr/>
        </p:nvSpPr>
        <p:spPr>
          <a:xfrm>
            <a:off x="5971032" y="285292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55080" y="2871216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29" name="Text 26"/>
          <p:cNvSpPr/>
          <p:nvPr/>
        </p:nvSpPr>
        <p:spPr>
          <a:xfrm>
            <a:off x="6537960" y="287121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user-friendly expense entry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548640" y="3401568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" y="34015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analysis makes patterns hard to see</a:t>
            </a:r>
            <a:endParaRPr lang="en-US" sz="1080" dirty="0"/>
          </a:p>
        </p:txBody>
      </p:sp>
      <p:sp>
        <p:nvSpPr>
          <p:cNvPr id="32" name="Shape 29"/>
          <p:cNvSpPr/>
          <p:nvPr/>
        </p:nvSpPr>
        <p:spPr>
          <a:xfrm>
            <a:off x="6053328" y="351129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3" name="Text 30"/>
          <p:cNvSpPr/>
          <p:nvPr/>
        </p:nvSpPr>
        <p:spPr>
          <a:xfrm>
            <a:off x="5971032" y="338328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355080" y="3401568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35" name="Text 32"/>
          <p:cNvSpPr/>
          <p:nvPr/>
        </p:nvSpPr>
        <p:spPr>
          <a:xfrm>
            <a:off x="6537960" y="340156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spending insights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548640" y="3931920"/>
            <a:ext cx="5394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" y="39319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reports lack meaningful insight</a:t>
            </a:r>
            <a:endParaRPr lang="en-US" sz="1080" dirty="0"/>
          </a:p>
        </p:txBody>
      </p:sp>
      <p:sp>
        <p:nvSpPr>
          <p:cNvPr id="38" name="Shape 35"/>
          <p:cNvSpPr/>
          <p:nvPr/>
        </p:nvSpPr>
        <p:spPr>
          <a:xfrm>
            <a:off x="6053328" y="4041648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9" name="Text 36"/>
          <p:cNvSpPr/>
          <p:nvPr/>
        </p:nvSpPr>
        <p:spPr>
          <a:xfrm>
            <a:off x="5971032" y="391363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355080" y="3931920"/>
            <a:ext cx="5303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41" name="Text 38"/>
          <p:cNvSpPr/>
          <p:nvPr/>
        </p:nvSpPr>
        <p:spPr>
          <a:xfrm>
            <a:off x="6537960" y="39319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reports and dashboards</a:t>
            </a:r>
            <a:endParaRPr lang="en-US" sz="1080" dirty="0"/>
          </a:p>
        </p:txBody>
      </p:sp>
      <p:sp>
        <p:nvSpPr>
          <p:cNvPr id="42" name="Shape 39"/>
          <p:cNvSpPr/>
          <p:nvPr/>
        </p:nvSpPr>
        <p:spPr>
          <a:xfrm>
            <a:off x="548640" y="4599432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FFF4E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77240" y="45994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statement:  </a:t>
            </a:r>
            <a:r>
              <a:rPr lang="en-US" sz="11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mainly store and display expenses; this project adds AI categorization, personalized suggestions, and simple spending insights.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 &amp; Novelty</a:t>
            </a:r>
            <a:endParaRPr lang="en-US" sz="28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57200"/>
            <a:ext cx="1691640" cy="4023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41732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49808" y="152247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1" descr="./icons/FaUserFri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86" y="1598554"/>
            <a:ext cx="433060" cy="4330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149047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user-friendly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754880" y="149047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expense tracking experience with minimal friction.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237744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2482596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2" descr="./icons/Fa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86" y="2558674"/>
            <a:ext cx="433060" cy="4330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245059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category suggestions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754880" y="245059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categories directly from expense descriptions.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33756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49808" y="344271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./icons/Fa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886" y="3518794"/>
            <a:ext cx="433060" cy="4330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41071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History-aware insights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754880" y="341071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spending insights generated from the user's own history.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" y="429768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49808" y="4402836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4" descr="./icons/FaWal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86" y="4478914"/>
            <a:ext cx="433060" cy="4330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0200" y="437083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monitoring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754880" y="437083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 monitoring keeps spending on track.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48640" y="5257800"/>
            <a:ext cx="11109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49808" y="5362956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./icons/FaCub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886" y="5439034"/>
            <a:ext cx="433060" cy="4330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600200" y="5330952"/>
            <a:ext cx="3017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design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4754880" y="5330952"/>
            <a:ext cx="6720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microservices-based architecture built for easy maintenance.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FCA625-EFE0-ED74-F81E-DC7C2F9429A8}"/>
              </a:ext>
            </a:extLst>
          </p:cNvPr>
          <p:cNvSpPr txBox="1"/>
          <p:nvPr/>
        </p:nvSpPr>
        <p:spPr>
          <a:xfrm>
            <a:off x="275013" y="115382"/>
            <a:ext cx="265937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 / Overview</a:t>
            </a:r>
            <a:endParaRPr lang="en-US" sz="2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582963-9068-171D-5235-1B90B8B63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09" y="1523998"/>
            <a:ext cx="7140634" cy="476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02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Project Plan</a:t>
            </a:r>
            <a:endParaRPr lang="en-US" sz="2600" dirty="0"/>
          </a:p>
        </p:txBody>
      </p:sp>
      <p:pic>
        <p:nvPicPr>
          <p:cNvPr id="3" name="Image 0" descr=".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11480"/>
            <a:ext cx="1691640" cy="4023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96012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FFF4E0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960120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feasible using Spring Boot, MySQL, REST APIs, JWT, Eureka and Spring Cloud Gateway. AI is kept simple: expense-description categorization and basic spending analysis.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SIX-WEEK DELIVERY PLAN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70432" y="23317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./icons/FaClipboard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000" y="2398288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2926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58368" y="3200400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design</a:t>
            </a:r>
            <a:endParaRPr lang="en-US" sz="930" dirty="0"/>
          </a:p>
        </p:txBody>
      </p:sp>
      <p:sp>
        <p:nvSpPr>
          <p:cNvPr id="12" name="Shape 8"/>
          <p:cNvSpPr/>
          <p:nvPr/>
        </p:nvSpPr>
        <p:spPr>
          <a:xfrm>
            <a:off x="2313432" y="3017520"/>
            <a:ext cx="100584" cy="0"/>
          </a:xfrm>
          <a:prstGeom prst="line">
            <a:avLst/>
          </a:prstGeom>
          <a:noFill/>
          <a:ln w="15875">
            <a:solidFill>
              <a:srgbClr val="C9CFE0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423160" y="2148840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044952" y="23317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./icons/Fa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520" y="2398288"/>
            <a:ext cx="378927" cy="3789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14600" y="2926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2532888" y="3200400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authentication service</a:t>
            </a:r>
            <a:endParaRPr lang="en-US" sz="930" dirty="0"/>
          </a:p>
        </p:txBody>
      </p:sp>
      <p:sp>
        <p:nvSpPr>
          <p:cNvPr id="18" name="Shape 13"/>
          <p:cNvSpPr/>
          <p:nvPr/>
        </p:nvSpPr>
        <p:spPr>
          <a:xfrm>
            <a:off x="4187952" y="3017520"/>
            <a:ext cx="100584" cy="0"/>
          </a:xfrm>
          <a:prstGeom prst="line">
            <a:avLst/>
          </a:prstGeom>
          <a:noFill/>
          <a:ln w="15875">
            <a:solidFill>
              <a:srgbClr val="C9CFE0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297680" y="2148840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9472" y="23317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./icons/FaRecei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6040" y="2398288"/>
            <a:ext cx="378927" cy="3789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0" y="2926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407408" y="3200400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service &amp; database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6062472" y="3017520"/>
            <a:ext cx="100584" cy="0"/>
          </a:xfrm>
          <a:prstGeom prst="line">
            <a:avLst/>
          </a:prstGeom>
          <a:noFill/>
          <a:ln w="15875">
            <a:solidFill>
              <a:srgbClr val="C9CFE0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6172200" y="2148840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793992" y="23317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./icons/Fa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0560" y="2398288"/>
            <a:ext cx="378927" cy="37892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263640" y="2926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281928" y="3200400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 &amp; reports</a:t>
            </a:r>
            <a:endParaRPr lang="en-US" sz="930" dirty="0"/>
          </a:p>
        </p:txBody>
      </p:sp>
      <p:sp>
        <p:nvSpPr>
          <p:cNvPr id="30" name="Shape 23"/>
          <p:cNvSpPr/>
          <p:nvPr/>
        </p:nvSpPr>
        <p:spPr>
          <a:xfrm>
            <a:off x="7936992" y="3017520"/>
            <a:ext cx="100584" cy="0"/>
          </a:xfrm>
          <a:prstGeom prst="line">
            <a:avLst/>
          </a:prstGeom>
          <a:noFill/>
          <a:ln w="15875">
            <a:solidFill>
              <a:srgbClr val="C9CFE0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8046720" y="2148840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blurRad="635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668512" y="23317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5" descr="./icons/FaShieldA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5080" y="2398288"/>
            <a:ext cx="378927" cy="37892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138160" y="2926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8156448" y="3200400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security</a:t>
            </a:r>
            <a:endParaRPr lang="en-US" sz="930" dirty="0"/>
          </a:p>
        </p:txBody>
      </p:sp>
      <p:sp>
        <p:nvSpPr>
          <p:cNvPr id="36" name="Shape 28"/>
          <p:cNvSpPr/>
          <p:nvPr/>
        </p:nvSpPr>
        <p:spPr>
          <a:xfrm>
            <a:off x="9811512" y="3017520"/>
            <a:ext cx="100584" cy="0"/>
          </a:xfrm>
          <a:prstGeom prst="line">
            <a:avLst/>
          </a:prstGeom>
          <a:noFill/>
          <a:ln w="15875">
            <a:solidFill>
              <a:srgbClr val="C9CFE0"/>
            </a:solidFill>
            <a:prstDash val="solid"/>
            <a:tailEnd type="triangle"/>
          </a:ln>
        </p:spPr>
      </p:sp>
      <p:sp>
        <p:nvSpPr>
          <p:cNvPr id="37" name="Shape 29"/>
          <p:cNvSpPr/>
          <p:nvPr/>
        </p:nvSpPr>
        <p:spPr>
          <a:xfrm>
            <a:off x="9921240" y="2148840"/>
            <a:ext cx="1755648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</p:sp>
      <p:sp>
        <p:nvSpPr>
          <p:cNvPr id="38" name="Shape 30"/>
          <p:cNvSpPr/>
          <p:nvPr/>
        </p:nvSpPr>
        <p:spPr>
          <a:xfrm>
            <a:off x="10543032" y="233172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9" name="Image 6" descr="./icons/FaRoc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9600" y="2398288"/>
            <a:ext cx="378927" cy="378927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012680" y="2926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10030968" y="3200400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CI/CD &amp; final demo</a:t>
            </a:r>
            <a:endParaRPr lang="en-US" sz="930" dirty="0"/>
          </a:p>
        </p:txBody>
      </p:sp>
      <p:sp>
        <p:nvSpPr>
          <p:cNvPr id="42" name="Text 33"/>
          <p:cNvSpPr/>
          <p:nvPr/>
        </p:nvSpPr>
        <p:spPr>
          <a:xfrm>
            <a:off x="54864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548640" y="4480560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48640" y="448056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2670048" y="448056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2670048" y="44805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3913632" y="4480560"/>
            <a:ext cx="1682496" cy="3840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3913632" y="448056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5742432" y="448056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5742432" y="448056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50" dirty="0"/>
          </a:p>
        </p:txBody>
      </p:sp>
      <p:sp>
        <p:nvSpPr>
          <p:cNvPr id="51" name="Shape 42"/>
          <p:cNvSpPr/>
          <p:nvPr/>
        </p:nvSpPr>
        <p:spPr>
          <a:xfrm>
            <a:off x="6693408" y="4480560"/>
            <a:ext cx="1243584" cy="3840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6693408" y="448056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8083296" y="44805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8083296" y="44805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</a:t>
            </a:r>
            <a:endParaRPr lang="en-US" sz="1050" dirty="0"/>
          </a:p>
        </p:txBody>
      </p:sp>
      <p:sp>
        <p:nvSpPr>
          <p:cNvPr id="55" name="Shape 46"/>
          <p:cNvSpPr/>
          <p:nvPr/>
        </p:nvSpPr>
        <p:spPr>
          <a:xfrm>
            <a:off x="548640" y="4992624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548640" y="499262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050" dirty="0"/>
          </a:p>
        </p:txBody>
      </p:sp>
      <p:sp>
        <p:nvSpPr>
          <p:cNvPr id="57" name="Shape 48"/>
          <p:cNvSpPr/>
          <p:nvPr/>
        </p:nvSpPr>
        <p:spPr>
          <a:xfrm>
            <a:off x="2084832" y="4992624"/>
            <a:ext cx="2414016" cy="3840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2084832" y="499262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59" name="Shape 50"/>
          <p:cNvSpPr/>
          <p:nvPr/>
        </p:nvSpPr>
        <p:spPr>
          <a:xfrm>
            <a:off x="4645152" y="4992624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0" name="Text 51"/>
          <p:cNvSpPr/>
          <p:nvPr/>
        </p:nvSpPr>
        <p:spPr>
          <a:xfrm>
            <a:off x="4645152" y="499262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1050" dirty="0"/>
          </a:p>
        </p:txBody>
      </p:sp>
      <p:sp>
        <p:nvSpPr>
          <p:cNvPr id="61" name="Shape 52"/>
          <p:cNvSpPr/>
          <p:nvPr/>
        </p:nvSpPr>
        <p:spPr>
          <a:xfrm>
            <a:off x="6181344" y="4992624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2" name="Text 53"/>
          <p:cNvSpPr/>
          <p:nvPr/>
        </p:nvSpPr>
        <p:spPr>
          <a:xfrm>
            <a:off x="6181344" y="4992624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50" dirty="0"/>
          </a:p>
        </p:txBody>
      </p:sp>
      <p:sp>
        <p:nvSpPr>
          <p:cNvPr id="63" name="Shape 54"/>
          <p:cNvSpPr/>
          <p:nvPr/>
        </p:nvSpPr>
        <p:spPr>
          <a:xfrm>
            <a:off x="7278624" y="4992624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7278624" y="49926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Lucidchart AI</a:t>
            </a:r>
            <a:endParaRPr lang="en-US" sz="1050" dirty="0"/>
          </a:p>
        </p:txBody>
      </p:sp>
      <p:sp>
        <p:nvSpPr>
          <p:cNvPr id="65" name="Text 5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Expense Tracking System — SOA Review 1</a:t>
            </a:r>
            <a:endParaRPr lang="en-US" sz="900" dirty="0"/>
          </a:p>
        </p:txBody>
      </p:sp>
      <p:sp>
        <p:nvSpPr>
          <p:cNvPr id="66" name="Text 5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739</Words>
  <Application>Microsoft Office PowerPoint</Application>
  <PresentationFormat>Widescreen</PresentationFormat>
  <Paragraphs>156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CHARAN RATHANALA</cp:lastModifiedBy>
  <cp:revision>2</cp:revision>
  <dcterms:created xsi:type="dcterms:W3CDTF">2026-09-22T06:49:41Z</dcterms:created>
  <dcterms:modified xsi:type="dcterms:W3CDTF">2026-09-22T08:28:36Z</dcterms:modified>
</cp:coreProperties>
</file>