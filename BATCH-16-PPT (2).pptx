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3"/>
  </p:notesMasterIdLst>
  <p:sldIdLst>
    <p:sldId id="904" r:id="rId3"/>
    <p:sldId id="262" r:id="rId4"/>
    <p:sldId id="707" r:id="rId5"/>
    <p:sldId id="257" r:id="rId6"/>
    <p:sldId id="903" r:id="rId7"/>
    <p:sldId id="902" r:id="rId8"/>
    <p:sldId id="258" r:id="rId9"/>
    <p:sldId id="905" r:id="rId10"/>
    <p:sldId id="259" r:id="rId11"/>
    <p:sldId id="26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F9F2B1-E8B5-4546-A30D-A192070D9DD7}" v="1" dt="2026-08-20T03:24:45.9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RAN RATHANALA" userId="7c9aa6e1067b4cf6" providerId="LiveId" clId="{59BCDDB0-13A4-4CE9-942F-7B2A14E577DC}"/>
    <pc:docChg chg="modSld">
      <pc:chgData name="CHARAN RATHANALA" userId="7c9aa6e1067b4cf6" providerId="LiveId" clId="{59BCDDB0-13A4-4CE9-942F-7B2A14E577DC}" dt="2026-08-20T03:24:45.916" v="0"/>
      <pc:docMkLst>
        <pc:docMk/>
      </pc:docMkLst>
      <pc:sldChg chg="modSp">
        <pc:chgData name="CHARAN RATHANALA" userId="7c9aa6e1067b4cf6" providerId="LiveId" clId="{59BCDDB0-13A4-4CE9-942F-7B2A14E577DC}" dt="2026-08-20T03:24:45.916" v="0"/>
        <pc:sldMkLst>
          <pc:docMk/>
          <pc:sldMk cId="3917782940" sldId="903"/>
        </pc:sldMkLst>
        <pc:spChg chg="mod">
          <ac:chgData name="CHARAN RATHANALA" userId="7c9aa6e1067b4cf6" providerId="LiveId" clId="{59BCDDB0-13A4-4CE9-942F-7B2A14E577DC}" dt="2026-08-20T03:24:45.916" v="0"/>
          <ac:spMkLst>
            <pc:docMk/>
            <pc:sldMk cId="3917782940" sldId="903"/>
            <ac:spMk id="6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20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20 August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20 August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20 August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20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20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F55CF-A5C9-F025-965C-E9D0B0511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385" y="2835764"/>
            <a:ext cx="10515600" cy="1325563"/>
          </a:xfrm>
        </p:spPr>
        <p:txBody>
          <a:bodyPr/>
          <a:lstStyle/>
          <a:p>
            <a:r>
              <a:rPr lang="en-IN" dirty="0"/>
              <a:t>AI-ENHANCED EXPENSE TRACKING SYSTEM</a:t>
            </a:r>
            <a:br>
              <a:rPr lang="en-IN" sz="6000" dirty="0">
                <a:solidFill>
                  <a:schemeClr val="bg1"/>
                </a:solidFill>
                <a:latin typeface="Calibri" panose="020F0502020204030204"/>
                <a:cs typeface="Poppins" pitchFamily="2" charset="77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4620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830997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>
              <a:defRPr sz="1600" b="0"/>
            </a:pPr>
            <a:br>
              <a:rPr dirty="0"/>
            </a:br>
            <a:r>
              <a:rPr dirty="0"/>
              <a:t>Date</a:t>
            </a:r>
            <a:r>
              <a:rPr lang="en-IN" dirty="0"/>
              <a:t>-20-08-2026</a:t>
            </a:r>
            <a:r>
              <a:rPr dirty="0"/>
              <a:t> &amp;</a:t>
            </a:r>
            <a:endParaRPr lang="en-IN" dirty="0"/>
          </a:p>
          <a:p>
            <a:pPr algn="ctr">
              <a:defRPr sz="1600" b="0"/>
            </a:pPr>
            <a:r>
              <a:rPr lang="en-IN" dirty="0"/>
              <a:t>T</a:t>
            </a:r>
            <a:r>
              <a:rPr dirty="0" err="1"/>
              <a:t>ime</a:t>
            </a:r>
            <a:r>
              <a:rPr lang="en-IN" dirty="0"/>
              <a:t>-8:10 AM</a:t>
            </a:r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8478998"/>
              </p:ext>
            </p:extLst>
          </p:nvPr>
        </p:nvGraphicFramePr>
        <p:xfrm>
          <a:off x="8193271" y="4898509"/>
          <a:ext cx="3702050" cy="883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2420030634-Srivathsava Reddy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2420030140-R Sai Charan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1671454"/>
              </p:ext>
            </p:extLst>
          </p:nvPr>
        </p:nvGraphicFramePr>
        <p:xfrm>
          <a:off x="-795813" y="4774125"/>
          <a:ext cx="5902325" cy="1427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Neelima Gogineni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1600" b="0"/>
            </a:pPr>
            <a:r>
              <a:t>17-08-2026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600" b="0"/>
            </a:pPr>
            <a:r>
              <a:t>Team Members: 2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600" b="0"/>
            </a:pPr>
            <a:r>
              <a:t>1</a:t>
            </a: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693212" y="1033119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2400" b="1"/>
            </a:pPr>
            <a:r>
              <a:rPr dirty="0"/>
              <a:t>AI-ENHANCED EXPENSE TRACKING SYSTEM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2000" b="0"/>
            </a:pPr>
            <a:r>
              <a:t>SOA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462457" y="1615122"/>
            <a:ext cx="6224400" cy="4183863"/>
            <a:chOff x="2373376" y="2055007"/>
            <a:chExt cx="6224400" cy="4183863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lang="en-US" b="1" dirty="0">
                  <a:solidFill>
                    <a:prstClr val="white"/>
                  </a:solidFill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lang="en-US" b="1" dirty="0">
                  <a:solidFill>
                    <a:prstClr val="white"/>
                  </a:solidFill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Problem Gap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lang="en-US" sz="2000" b="1" dirty="0">
                  <a:solidFill>
                    <a:prstClr val="white"/>
                  </a:solidFill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 Innovation and Novelty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647356" y="5626266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lang="en-US" b="1" dirty="0">
                  <a:solidFill>
                    <a:prstClr val="white"/>
                  </a:solidFill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Feasibility </a:t>
              </a:r>
              <a:r>
                <a:rPr lang="en-US" b="1" dirty="0" err="1">
                  <a:solidFill>
                    <a:prstClr val="white"/>
                  </a:solidFill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ans</a:t>
              </a:r>
              <a:r>
                <a:rPr lang="en-US" b="1" dirty="0">
                  <a:solidFill>
                    <a:prstClr val="white"/>
                  </a:solidFill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 Project Plan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141935" y="5061740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2373376" y="2057288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lang="en-US" sz="2000" b="1" dirty="0">
                  <a:solidFill>
                    <a:prstClr val="white"/>
                  </a:solidFill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533892" y="2645504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lang="en-US" sz="2000" b="1" dirty="0">
                  <a:solidFill>
                    <a:prstClr val="white"/>
                  </a:solidFill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Problem Statement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745954" y="3221833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329325" y="2695214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890577" y="2055007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727692" y="324671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lang="en-US" sz="2040" b="1" dirty="0">
                  <a:solidFill>
                    <a:prstClr val="white"/>
                  </a:solidFill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Objective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15544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/>
            </a:pPr>
            <a:r>
              <a:t>Managing daily expenses manually can be difficult and time-consuming. Users may forget expenses, lose records, or find it hard to understand where their money is spent. The proposed system provides a simple way to record expenses, view spending, set a budget, and use AI to suggest expense categories and give basic spending suggestions.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54480" y="1554480"/>
            <a:ext cx="86868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rPr lang="en-IN" dirty="0"/>
              <a:t>• To record, update, and delete daily expenses.</a:t>
            </a:r>
            <a:br>
              <a:rPr lang="en-IN" dirty="0"/>
            </a:br>
            <a:r>
              <a:rPr lang="en-IN" dirty="0"/>
              <a:t>• To organize expenses into simple categories.</a:t>
            </a:r>
            <a:br>
              <a:rPr lang="en-IN" dirty="0"/>
            </a:br>
            <a:r>
              <a:rPr lang="en-IN" dirty="0"/>
              <a:t>• To view monthly and category-wise spending.</a:t>
            </a:r>
            <a:br>
              <a:rPr lang="en-IN" dirty="0"/>
            </a:br>
            <a:r>
              <a:rPr lang="en-IN" dirty="0"/>
              <a:t>• To set and monitor a monthly budget.</a:t>
            </a:r>
            <a:br>
              <a:rPr lang="en-IN" dirty="0"/>
            </a:br>
            <a:r>
              <a:rPr lang="en-IN" dirty="0"/>
              <a:t>• To use AI to suggest expense categories and provide simple spending insights.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4012633"/>
              </p:ext>
            </p:extLst>
          </p:nvPr>
        </p:nvGraphicFramePr>
        <p:xfrm>
          <a:off x="274646" y="689466"/>
          <a:ext cx="11642705" cy="463905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Title / Area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Inference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Limitation / 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S. B. Patel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Personal Expense Management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Expense recording and category-based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Helps users track and understand spending.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Limited automation and intelligent suggestions.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M. Kumar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AI-Based Expense Categorization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Machine learning for text-based categories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Can reduce manual expense categorization.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Needs more training data for better accuracy.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Our 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AI-Enhanced Expense Tracking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Microservices + AI categorization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Simple tracking with basic AI insights.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Can be extended with better prediction and recommendations.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6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F3C5CEA-485F-59A5-E603-2B32A95279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1701751"/>
              </p:ext>
            </p:extLst>
          </p:nvPr>
        </p:nvGraphicFramePr>
        <p:xfrm>
          <a:off x="1011114" y="1439839"/>
          <a:ext cx="9947031" cy="4206240"/>
        </p:xfrm>
        <a:graphic>
          <a:graphicData uri="http://schemas.openxmlformats.org/drawingml/2006/table">
            <a:tbl>
              <a:tblPr/>
              <a:tblGrid>
                <a:gridCol w="3315677">
                  <a:extLst>
                    <a:ext uri="{9D8B030D-6E8A-4147-A177-3AD203B41FA5}">
                      <a16:colId xmlns:a16="http://schemas.microsoft.com/office/drawing/2014/main" val="1530582960"/>
                    </a:ext>
                  </a:extLst>
                </a:gridCol>
                <a:gridCol w="3315677">
                  <a:extLst>
                    <a:ext uri="{9D8B030D-6E8A-4147-A177-3AD203B41FA5}">
                      <a16:colId xmlns:a16="http://schemas.microsoft.com/office/drawing/2014/main" val="206952858"/>
                    </a:ext>
                  </a:extLst>
                </a:gridCol>
                <a:gridCol w="3315677">
                  <a:extLst>
                    <a:ext uri="{9D8B030D-6E8A-4147-A177-3AD203B41FA5}">
                      <a16:colId xmlns:a16="http://schemas.microsoft.com/office/drawing/2014/main" val="365230332"/>
                    </a:ext>
                  </a:extLst>
                </a:gridCol>
              </a:tblGrid>
              <a:tr h="3388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Existing System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Gap Identified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Proposed Solution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868002"/>
                  </a:ext>
                </a:extLst>
              </a:tr>
              <a:tr h="592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Manual expense categorization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Time-consuming and may cause errors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AI-powered automatic categorization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5769465"/>
                  </a:ext>
                </a:extLst>
              </a:tr>
              <a:tr h="592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Basic expense tracking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Only stores and displays expenses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AI-based spending analysis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7293088"/>
                  </a:ext>
                </a:extLst>
              </a:tr>
              <a:tr h="592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 personalized suggestions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Users may not know where to reduce spending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Personalized spending suggestions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7913289"/>
                  </a:ext>
                </a:extLst>
              </a:tr>
              <a:tr h="592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Manual expense entry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Requires more user effort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Simple and user-friendly expense entry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100004"/>
                  </a:ext>
                </a:extLst>
              </a:tr>
              <a:tr h="592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 spending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Difficult to identify spending patterns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AI-based spending insights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386371"/>
                  </a:ext>
                </a:extLst>
              </a:tr>
              <a:tr h="592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Traditional reports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Lack of meaningful insights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Interactive reports and dashboards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47291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57A7B7F-EF12-1FFC-3FFB-6AAB5119F53E}"/>
              </a:ext>
            </a:extLst>
          </p:cNvPr>
          <p:cNvSpPr txBox="1"/>
          <p:nvPr/>
        </p:nvSpPr>
        <p:spPr>
          <a:xfrm>
            <a:off x="1804255" y="2248461"/>
            <a:ext cx="858349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/>
              <a:t>Gap Statement:</a:t>
            </a:r>
          </a:p>
          <a:p>
            <a:br>
              <a:rPr lang="en-IN" sz="1800" dirty="0"/>
            </a:br>
            <a:r>
              <a:rPr lang="en-IN" sz="1800" dirty="0"/>
              <a:t>Current expense tracking systems mainly focus on storing and displaying expenses, with limited automation and personalization. The proposed </a:t>
            </a:r>
            <a:r>
              <a:rPr lang="en-IN" sz="1800" b="1" dirty="0"/>
              <a:t>AI-Enhanced Expense Tracking System</a:t>
            </a:r>
            <a:r>
              <a:rPr lang="en-IN" sz="1800" dirty="0"/>
              <a:t> bridges this gap by integrating AI-based categorization, personalized spending suggestions, and simple spending insights while maintaining an easy-to-use interface</a:t>
            </a:r>
          </a:p>
        </p:txBody>
      </p:sp>
    </p:spTree>
    <p:extLst>
      <p:ext uri="{BB962C8B-B14F-4D97-AF65-F5344CB8AC3E}">
        <p14:creationId xmlns:p14="http://schemas.microsoft.com/office/powerpoint/2010/main" val="3258230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" y="1554480"/>
            <a:ext cx="9784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rPr dirty="0"/>
              <a:t>• Simple and user-friendly expense tracking.</a:t>
            </a:r>
          </a:p>
          <a:p>
            <a:pPr>
              <a:spcAft>
                <a:spcPts val="1400"/>
              </a:spcAft>
              <a:defRPr sz="2100"/>
            </a:pPr>
            <a:r>
              <a:rPr dirty="0"/>
              <a:t>• AI suggests categories from expense descriptions.</a:t>
            </a:r>
          </a:p>
          <a:p>
            <a:pPr>
              <a:spcAft>
                <a:spcPts val="1400"/>
              </a:spcAft>
              <a:defRPr sz="2100"/>
            </a:pPr>
            <a:r>
              <a:rPr dirty="0"/>
              <a:t>• Basic spending insights based on user history.</a:t>
            </a:r>
          </a:p>
          <a:p>
            <a:pPr>
              <a:spcAft>
                <a:spcPts val="1400"/>
              </a:spcAft>
              <a:defRPr sz="2100"/>
            </a:pPr>
            <a:r>
              <a:rPr dirty="0"/>
              <a:t>• Monthly budget monitoring.</a:t>
            </a:r>
          </a:p>
          <a:p>
            <a:pPr>
              <a:spcAft>
                <a:spcPts val="1400"/>
              </a:spcAft>
              <a:defRPr sz="2100"/>
            </a:pPr>
            <a:r>
              <a:rPr dirty="0"/>
              <a:t>• Microservices-based design for easy maintenance.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0303AA-CEE8-2513-1736-59CB3A5EF8E4}"/>
              </a:ext>
            </a:extLst>
          </p:cNvPr>
          <p:cNvSpPr txBox="1"/>
          <p:nvPr/>
        </p:nvSpPr>
        <p:spPr>
          <a:xfrm>
            <a:off x="1426387" y="2636730"/>
            <a:ext cx="10085326" cy="18211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600" b="0"/>
            </a:pPr>
            <a:r>
              <a:rPr dirty="0"/>
              <a:t>Timeline</a:t>
            </a:r>
            <a:br>
              <a:rPr dirty="0"/>
            </a:br>
            <a:r>
              <a:rPr dirty="0"/>
              <a:t>Week 1: Requirements &amp; design</a:t>
            </a:r>
            <a:br>
              <a:rPr dirty="0"/>
            </a:br>
            <a:r>
              <a:rPr dirty="0"/>
              <a:t>Week 2: User and authentication service</a:t>
            </a:r>
            <a:br>
              <a:rPr dirty="0"/>
            </a:br>
            <a:r>
              <a:rPr dirty="0"/>
              <a:t>Week 3: Expense service &amp; database</a:t>
            </a:r>
            <a:br>
              <a:rPr dirty="0"/>
            </a:br>
            <a:r>
              <a:rPr dirty="0"/>
              <a:t>Week 4: AI feature &amp; reports</a:t>
            </a:r>
            <a:br>
              <a:rPr dirty="0"/>
            </a:br>
            <a:r>
              <a:rPr dirty="0"/>
              <a:t>Week 5: Testing &amp; security</a:t>
            </a:r>
            <a:br>
              <a:rPr dirty="0"/>
            </a:br>
            <a:r>
              <a:rPr dirty="0"/>
              <a:t>Week 6: Integration, CI/CD &amp; final demo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6387" y="1633832"/>
            <a:ext cx="97840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rPr dirty="0"/>
              <a:t>The project is feasible using Spring Boot, MySQL, REST APIs, JWT, Eureka and Spring Cloud Gateway. AI will be kept simple using expense-description categorization and basic spending</a:t>
            </a:r>
            <a:endParaRPr lang="en-IN" dirty="0"/>
          </a:p>
          <a:p>
            <a:pPr>
              <a:defRPr sz="1800"/>
            </a:pPr>
            <a:r>
              <a:rPr dirty="0"/>
              <a:t> analysis.</a:t>
            </a:r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552</Words>
  <Application>Microsoft Office PowerPoint</Application>
  <PresentationFormat>Widescreen</PresentationFormat>
  <Paragraphs>101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AI-ENHANCED EXPENSE TRACKING SYSTEM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CHARAN RATHANALA</cp:lastModifiedBy>
  <cp:revision>42</cp:revision>
  <dcterms:created xsi:type="dcterms:W3CDTF">2026-08-08T06:33:56Z</dcterms:created>
  <dcterms:modified xsi:type="dcterms:W3CDTF">2026-08-20T03:24:51Z</dcterms:modified>
</cp:coreProperties>
</file>