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262" r:id="rId6"/>
    <p:sldId id="265" r:id="rId7"/>
    <p:sldId id="266" r:id="rId8"/>
    <p:sldId id="264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AN RATHANALA" userId="7c9aa6e1067b4cf6" providerId="LiveId" clId="{59BCDDB0-13A4-4CE9-942F-7B2A14E577DC}"/>
    <pc:docChg chg="undo custSel modSld">
      <pc:chgData name="CHARAN RATHANALA" userId="7c9aa6e1067b4cf6" providerId="LiveId" clId="{59BCDDB0-13A4-4CE9-942F-7B2A14E577DC}" dt="2026-09-22T09:40:38.785" v="16" actId="20577"/>
      <pc:docMkLst>
        <pc:docMk/>
      </pc:docMkLst>
      <pc:sldChg chg="modSp mod">
        <pc:chgData name="CHARAN RATHANALA" userId="7c9aa6e1067b4cf6" providerId="LiveId" clId="{59BCDDB0-13A4-4CE9-942F-7B2A14E577DC}" dt="2026-09-22T09:40:38.785" v="16" actId="20577"/>
        <pc:sldMkLst>
          <pc:docMk/>
          <pc:sldMk cId="0" sldId="256"/>
        </pc:sldMkLst>
        <pc:spChg chg="mod">
          <ac:chgData name="CHARAN RATHANALA" userId="7c9aa6e1067b4cf6" providerId="LiveId" clId="{59BCDDB0-13A4-4CE9-942F-7B2A14E577DC}" dt="2026-09-22T09:40:38.785" v="16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CHARAN RATHANALA" userId="7c9aa6e1067b4cf6" providerId="LiveId" clId="{59BCDDB0-13A4-4CE9-942F-7B2A14E577DC}" dt="2026-09-22T09:17:45.376" v="11" actId="20577"/>
          <ac:spMkLst>
            <pc:docMk/>
            <pc:sldMk cId="0" sldId="256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184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03504"/>
            <a:ext cx="237744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PROJECT REVIEW –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Expense Tracking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Boot microservices platform that helps users record, categorize and understand their expenses — with AI-assisted suggestions and insights.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4526280"/>
            <a:ext cx="11064240" cy="0"/>
          </a:xfrm>
          <a:prstGeom prst="line">
            <a:avLst/>
          </a:prstGeom>
          <a:noFill/>
          <a:ln w="12700">
            <a:solidFill>
              <a:srgbClr val="3339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48640" y="4800600"/>
            <a:ext cx="6492240" cy="1600200"/>
          </a:xfrm>
          <a:prstGeom prst="roundRect">
            <a:avLst>
              <a:gd name="adj" fmla="val 4571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7724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5230368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2420030634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Srivathsava Reddy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2420030140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 Sai Charan</a:t>
            </a: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69480" y="4800600"/>
            <a:ext cx="4343400" cy="1600200"/>
          </a:xfrm>
          <a:prstGeom prst="roundRect">
            <a:avLst>
              <a:gd name="adj" fmla="val 4571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498080" y="4937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0" y="5193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Dr.Neelima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Gogineni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0" y="5486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Dept. of CSE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Bowrampet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Campus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98080" y="6035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pic>
        <p:nvPicPr>
          <p:cNvPr id="3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1691640" cy="4023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43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22960" y="1143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expense tracking is slow, error-prone, and gives people little insight into where their money actually goes.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2628900" cy="27889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49733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./icons/Fa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428" y="2655418"/>
            <a:ext cx="541325" cy="5413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4290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to manage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77240" y="4023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daily expenses manually takes real time and effort from users.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60420" y="2286000"/>
            <a:ext cx="2628900" cy="27889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30911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./icons/FaFil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4208" y="2655418"/>
            <a:ext cx="541325" cy="5413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43300" y="34290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get lost or forgotten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589020" y="4023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often forget to log expenses or lose track of where records are kept.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72200" y="2286000"/>
            <a:ext cx="2628900" cy="27889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712089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./icons/Fa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988" y="2655418"/>
            <a:ext cx="541325" cy="5413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5080" y="34290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automation today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400800" y="4023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mostly store and display expenses, with limited automation or personalization.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983980" y="2286000"/>
            <a:ext cx="2628900" cy="27889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9932670" y="256032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./icons/Fa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7768" y="2655418"/>
            <a:ext cx="541325" cy="5413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66860" y="34290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fix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212580" y="4023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system to record, view, and budget expenses — with AI to suggest categories and surface basic insights.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is designed to deliver for the end user</a:t>
            </a:r>
            <a:endParaRPr lang="en-US" sz="1250" dirty="0"/>
          </a:p>
        </p:txBody>
      </p:sp>
      <p:pic>
        <p:nvPicPr>
          <p:cNvPr id="4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1691640" cy="4023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./icons/FaPlus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41" y="1856781"/>
            <a:ext cx="419527" cy="4195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Record, update &amp; delete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77240" y="28529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to record, update, and delete daily expenses.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206240" y="1554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443484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./icons/FaTa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541" y="1856781"/>
            <a:ext cx="419527" cy="4195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3484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categorization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434840" y="28529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expenses into clear, simple categories.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863840" y="1554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809244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./icons/FaChart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6141" y="1856781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9244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visibility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092440" y="28529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monthly and category-wise spending at a glance.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./icons/FaWal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41" y="4279941"/>
            <a:ext cx="419527" cy="41952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monitoring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777240" y="527608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and monitor a monthly budget in real time.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206240" y="3977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443484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5" descr="./icons/Fa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8541" y="4279941"/>
            <a:ext cx="419527" cy="41952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43484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insights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4434840" y="527608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suggest expense categories and surface simple spending insights.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7863840" y="3977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3"/>
          <p:cNvSpPr/>
          <p:nvPr/>
        </p:nvSpPr>
        <p:spPr>
          <a:xfrm>
            <a:off x="8092440" y="4114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32" name="Text 24"/>
          <p:cNvSpPr/>
          <p:nvPr/>
        </p:nvSpPr>
        <p:spPr>
          <a:xfrm>
            <a:off x="8092440" y="5029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 guiding scope, design, and the Review-1 demo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Gap Identification</a:t>
            </a:r>
            <a:endParaRPr lang="en-US" sz="2600" dirty="0"/>
          </a:p>
        </p:txBody>
      </p:sp>
      <p:pic>
        <p:nvPicPr>
          <p:cNvPr id="3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11480"/>
            <a:ext cx="1691640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60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537960" y="960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31520" y="12801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categorization is slow and error-prone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053328" y="1389888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971032" y="126187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280160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37960" y="128016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automatic categorization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8640" y="1810512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31520" y="181051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tracking only stores and displays expenses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053328" y="192024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971032" y="179222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55080" y="1810512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537960" y="181051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spending analysis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548640" y="2340864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31520" y="234086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suggestions for the user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053328" y="245059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971032" y="232257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55080" y="2340864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537960" y="234086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suggestions based on history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548640" y="2871216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31520" y="287121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requires significant user effort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6053328" y="298094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971032" y="285292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355080" y="2871216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537960" y="287121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user-friendly expense entry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548640" y="3401568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731520" y="340156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analysis makes patterns hard to see</a:t>
            </a:r>
            <a:endParaRPr lang="en-US" sz="1080" dirty="0"/>
          </a:p>
        </p:txBody>
      </p:sp>
      <p:sp>
        <p:nvSpPr>
          <p:cNvPr id="32" name="Shape 29"/>
          <p:cNvSpPr/>
          <p:nvPr/>
        </p:nvSpPr>
        <p:spPr>
          <a:xfrm>
            <a:off x="6053328" y="351129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971032" y="338328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355080" y="3401568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537960" y="340156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spending insights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548640" y="3931920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731520" y="39319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reports lack meaningful insight</a:t>
            </a:r>
            <a:endParaRPr lang="en-US" sz="1080" dirty="0"/>
          </a:p>
        </p:txBody>
      </p:sp>
      <p:sp>
        <p:nvSpPr>
          <p:cNvPr id="38" name="Shape 35"/>
          <p:cNvSpPr/>
          <p:nvPr/>
        </p:nvSpPr>
        <p:spPr>
          <a:xfrm>
            <a:off x="6053328" y="4041648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971032" y="391363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355080" y="3931920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6537960" y="39319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reports and dashboards</a:t>
            </a:r>
            <a:endParaRPr lang="en-US" sz="1080" dirty="0"/>
          </a:p>
        </p:txBody>
      </p:sp>
      <p:sp>
        <p:nvSpPr>
          <p:cNvPr id="42" name="Shape 39"/>
          <p:cNvSpPr/>
          <p:nvPr/>
        </p:nvSpPr>
        <p:spPr>
          <a:xfrm>
            <a:off x="548640" y="4599432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FFF4E0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777240" y="45994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statement:  </a:t>
            </a:r>
            <a:r>
              <a:rPr lang="en-US" sz="11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mainly store and display expenses; this project adds AI categorization, personalized suggestions, and simple spending insights.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Creativity &amp; Novelty</a:t>
            </a:r>
            <a:endParaRPr lang="en-US" sz="2800" dirty="0"/>
          </a:p>
        </p:txBody>
      </p:sp>
      <p:pic>
        <p:nvPicPr>
          <p:cNvPr id="3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1691640" cy="4023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417320"/>
            <a:ext cx="11109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2"/>
          <p:cNvSpPr/>
          <p:nvPr/>
        </p:nvSpPr>
        <p:spPr>
          <a:xfrm>
            <a:off x="749808" y="152247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./icons/FaUserFri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86" y="1598554"/>
            <a:ext cx="433060" cy="4330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1490472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user-friendly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754880" y="1490472"/>
            <a:ext cx="6720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 expense tracking experience with minimal friction.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2377440"/>
            <a:ext cx="11109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749808" y="2482596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./icons/Fa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86" y="2558674"/>
            <a:ext cx="433060" cy="4330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2450592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category suggestions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754880" y="2450592"/>
            <a:ext cx="6720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categories directly from expense descriptions.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337560"/>
            <a:ext cx="11109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749808" y="344271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./icons/Fa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886" y="3518794"/>
            <a:ext cx="433060" cy="4330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410712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History-aware insights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754880" y="3410712"/>
            <a:ext cx="6720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spending insights generated from the user's own history.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4297680"/>
            <a:ext cx="11109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749808" y="4402836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./icons/FaWal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86" y="4478914"/>
            <a:ext cx="433060" cy="4330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00200" y="4370832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monitoring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754880" y="4370832"/>
            <a:ext cx="6720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 monitoring keeps spending on track.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FCA625-EFE0-ED74-F81E-DC7C2F9429A8}"/>
              </a:ext>
            </a:extLst>
          </p:cNvPr>
          <p:cNvSpPr txBox="1"/>
          <p:nvPr/>
        </p:nvSpPr>
        <p:spPr>
          <a:xfrm>
            <a:off x="275013" y="115382"/>
            <a:ext cx="265937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 / Overview</a:t>
            </a:r>
            <a:endParaRPr lang="en-US" sz="2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582963-9068-171D-5235-1B90B8B63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309" y="1523998"/>
            <a:ext cx="7140634" cy="476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0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53F696-21F7-1487-8D24-2A7856D0A1A9}"/>
              </a:ext>
            </a:extLst>
          </p:cNvPr>
          <p:cNvSpPr txBox="1"/>
          <p:nvPr/>
        </p:nvSpPr>
        <p:spPr>
          <a:xfrm>
            <a:off x="164123" y="1031630"/>
            <a:ext cx="3247618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Requirements Analysis &amp; System Design</a:t>
            </a:r>
            <a:r>
              <a:rPr lang="en-IN" dirty="0"/>
              <a:t> — Gather functional requirements (record/update/delete expenses, budgeting, </a:t>
            </a:r>
          </a:p>
          <a:p>
            <a:pPr lvl="0"/>
            <a:r>
              <a:rPr lang="en-IN" dirty="0"/>
              <a:t>AI categorization), define service boundaries for the SOA architecture, and design the MySQL schema and UI wireframes.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Microservices Development</a:t>
            </a:r>
            <a:r>
              <a:rPr lang="en-IN" dirty="0"/>
              <a:t> — Build the core Spring Boot services independently: the User/Authentication service </a:t>
            </a:r>
          </a:p>
          <a:p>
            <a:pPr lvl="0"/>
            <a:r>
              <a:rPr lang="en-IN" dirty="0"/>
              <a:t>(JWT-based login) and the Expense service (CRUD operations, category-wise and monthly summaries), each backed by its own </a:t>
            </a:r>
          </a:p>
          <a:p>
            <a:pPr lvl="0"/>
            <a:r>
              <a:rPr lang="en-IN" dirty="0"/>
              <a:t>database, registered with Eureka, and routed through Spring Cloud Gateway.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AI Integration</a:t>
            </a:r>
            <a:r>
              <a:rPr lang="en-IN" dirty="0"/>
              <a:t> — Implement the AI Service that takes an expense description, calls an LLM API (e.g., Gemini) </a:t>
            </a:r>
          </a:p>
          <a:p>
            <a:pPr lvl="0"/>
            <a:r>
              <a:rPr lang="en-IN" dirty="0"/>
              <a:t>to suggest a category, and computes basic spending insights (top category, month-over-month trend, budget alerts) </a:t>
            </a:r>
          </a:p>
          <a:p>
            <a:pPr lvl="0"/>
            <a:r>
              <a:rPr lang="en-IN" dirty="0"/>
              <a:t>from the user's own transaction history.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Testing &amp; Security</a:t>
            </a:r>
            <a:r>
              <a:rPr lang="en-IN" dirty="0"/>
              <a:t> — Validate each service's REST APIs using Postman, run static analysis with </a:t>
            </a:r>
            <a:r>
              <a:rPr lang="en-IN" dirty="0" err="1"/>
              <a:t>Semgrep</a:t>
            </a:r>
            <a:r>
              <a:rPr lang="en-IN" dirty="0"/>
              <a:t>, enforce </a:t>
            </a:r>
          </a:p>
          <a:p>
            <a:pPr lvl="0"/>
            <a:r>
              <a:rPr lang="en-IN" dirty="0"/>
              <a:t>JWT-based authentication and role checks, and perform end-to-end integration testing across all services via the gateway.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Integration, Deployment &amp; Evaluation</a:t>
            </a:r>
            <a:r>
              <a:rPr lang="en-IN" dirty="0"/>
              <a:t> — Wire all services together behind the gateway, set up CI/CD with </a:t>
            </a:r>
          </a:p>
          <a:p>
            <a:pPr lvl="0"/>
            <a:r>
              <a:rPr lang="en-IN" dirty="0"/>
              <a:t>GitHub Actions, deploy the integrated system, and evaluate it against the stated objectives </a:t>
            </a:r>
          </a:p>
          <a:p>
            <a:pPr lvl="0"/>
            <a:r>
              <a:rPr lang="en-IN" dirty="0"/>
              <a:t>(accuracy of category suggestions, usability of budget tracking, and correctness of spending insights) </a:t>
            </a:r>
          </a:p>
          <a:p>
            <a:pPr lvl="0"/>
            <a:r>
              <a:rPr lang="en-IN" dirty="0"/>
              <a:t>during the final demo/review.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038D9-33F3-2510-BFE5-0DA39F306F4D}"/>
              </a:ext>
            </a:extLst>
          </p:cNvPr>
          <p:cNvSpPr txBox="1"/>
          <p:nvPr/>
        </p:nvSpPr>
        <p:spPr>
          <a:xfrm>
            <a:off x="4079631" y="247920"/>
            <a:ext cx="179889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300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526187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2600" dirty="0"/>
          </a:p>
        </p:txBody>
      </p:sp>
      <p:pic>
        <p:nvPicPr>
          <p:cNvPr id="3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11480"/>
            <a:ext cx="1691640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89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FIVE-Module DELIVERY PLAN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911096" y="2201926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2505456" y="238480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./icons/FaUser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024" y="2451374"/>
            <a:ext cx="378927" cy="3789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75104" y="297916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993392" y="3253486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authentication service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5431536" y="2180848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053328" y="236372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./icons/FaRecei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896" y="2430296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22976" y="29580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541264" y="3232408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service &amp; database</a:t>
            </a:r>
            <a:endParaRPr lang="en-US" sz="930" dirty="0"/>
          </a:p>
        </p:txBody>
      </p:sp>
      <p:sp>
        <p:nvSpPr>
          <p:cNvPr id="31" name="Shape 24"/>
          <p:cNvSpPr/>
          <p:nvPr/>
        </p:nvSpPr>
        <p:spPr>
          <a:xfrm>
            <a:off x="5431536" y="4587498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053328" y="477037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5" descr="./icons/FaShield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9896" y="4836946"/>
            <a:ext cx="378927" cy="37892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22976" y="536473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541264" y="5639058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security</a:t>
            </a:r>
            <a:endParaRPr lang="en-US" sz="930" dirty="0"/>
          </a:p>
        </p:txBody>
      </p:sp>
      <p:sp>
        <p:nvSpPr>
          <p:cNvPr id="37" name="Shape 29"/>
          <p:cNvSpPr/>
          <p:nvPr/>
        </p:nvSpPr>
        <p:spPr>
          <a:xfrm>
            <a:off x="8408650" y="3364992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0"/>
          <p:cNvSpPr/>
          <p:nvPr/>
        </p:nvSpPr>
        <p:spPr>
          <a:xfrm>
            <a:off x="9030442" y="354787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6" descr="./icons/Fa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7010" y="3614440"/>
            <a:ext cx="378927" cy="378927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500090" y="41422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</a:t>
            </a: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8518378" y="4416552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CI/CD &amp; final demo</a:t>
            </a:r>
            <a:endParaRPr lang="en-US" sz="930" dirty="0"/>
          </a:p>
        </p:txBody>
      </p:sp>
      <p:sp>
        <p:nvSpPr>
          <p:cNvPr id="65" name="Text 5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66" name="Text 5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2" name="Shape 19">
            <a:extLst>
              <a:ext uri="{FF2B5EF4-FFF2-40B4-BE49-F238E27FC236}">
                <a16:creationId xmlns:a16="http://schemas.microsoft.com/office/drawing/2014/main" id="{5C3F53E1-23EE-C870-2EBB-4614D455B1A3}"/>
              </a:ext>
            </a:extLst>
          </p:cNvPr>
          <p:cNvSpPr/>
          <p:nvPr/>
        </p:nvSpPr>
        <p:spPr>
          <a:xfrm>
            <a:off x="1903613" y="4509990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4" name="Shape 20">
            <a:extLst>
              <a:ext uri="{FF2B5EF4-FFF2-40B4-BE49-F238E27FC236}">
                <a16:creationId xmlns:a16="http://schemas.microsoft.com/office/drawing/2014/main" id="{238187AA-0F5E-C082-1BBF-8FDF7B52D040}"/>
              </a:ext>
            </a:extLst>
          </p:cNvPr>
          <p:cNvSpPr/>
          <p:nvPr/>
        </p:nvSpPr>
        <p:spPr>
          <a:xfrm>
            <a:off x="2525405" y="469287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6" name="Image 4" descr="./icons/FaBrain.png">
            <a:extLst>
              <a:ext uri="{FF2B5EF4-FFF2-40B4-BE49-F238E27FC236}">
                <a16:creationId xmlns:a16="http://schemas.microsoft.com/office/drawing/2014/main" id="{668F66FC-CF53-25F6-8C23-55CC25D8E3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1973" y="4759438"/>
            <a:ext cx="378927" cy="378927"/>
          </a:xfrm>
          <a:prstGeom prst="rect">
            <a:avLst/>
          </a:prstGeom>
        </p:spPr>
      </p:pic>
      <p:sp>
        <p:nvSpPr>
          <p:cNvPr id="78" name="Text 21">
            <a:extLst>
              <a:ext uri="{FF2B5EF4-FFF2-40B4-BE49-F238E27FC236}">
                <a16:creationId xmlns:a16="http://schemas.microsoft.com/office/drawing/2014/main" id="{CC834496-990C-3B69-FCC7-B9F61B54B1CC}"/>
              </a:ext>
            </a:extLst>
          </p:cNvPr>
          <p:cNvSpPr/>
          <p:nvPr/>
        </p:nvSpPr>
        <p:spPr>
          <a:xfrm>
            <a:off x="1995053" y="528723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50" dirty="0"/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F9374BAF-CD8A-5D6E-2316-D3310975BB00}"/>
              </a:ext>
            </a:extLst>
          </p:cNvPr>
          <p:cNvSpPr/>
          <p:nvPr/>
        </p:nvSpPr>
        <p:spPr>
          <a:xfrm>
            <a:off x="2013341" y="5561550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 &amp; reports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E5FA5-C730-4931-F184-E23BADB0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77" y="178788"/>
            <a:ext cx="9754445" cy="65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4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727</Words>
  <Application>Microsoft Office PowerPoint</Application>
  <PresentationFormat>Widescreen</PresentationFormat>
  <Paragraphs>113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CHARAN RATHANALA</cp:lastModifiedBy>
  <cp:revision>4</cp:revision>
  <dcterms:created xsi:type="dcterms:W3CDTF">2026-09-22T06:49:41Z</dcterms:created>
  <dcterms:modified xsi:type="dcterms:W3CDTF">2026-09-22T09:40:41Z</dcterms:modified>
</cp:coreProperties>
</file>